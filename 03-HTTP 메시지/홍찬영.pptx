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9" r:id="rId9"/>
    <p:sldId id="262" r:id="rId10"/>
    <p:sldId id="274" r:id="rId11"/>
    <p:sldId id="270" r:id="rId12"/>
    <p:sldId id="271" r:id="rId13"/>
    <p:sldId id="272" r:id="rId14"/>
    <p:sldId id="265" r:id="rId15"/>
    <p:sldId id="266" r:id="rId16"/>
    <p:sldId id="275" r:id="rId17"/>
    <p:sldId id="276" r:id="rId18"/>
    <p:sldId id="277" r:id="rId19"/>
    <p:sldId id="278" r:id="rId20"/>
    <p:sldId id="279" r:id="rId21"/>
    <p:sldId id="267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88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HTTP 메시지의 구성과 흐름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『HTTP 완벽 가이드』 Chapter 3 요약</a:t>
            </a:r>
          </a:p>
          <a:p>
            <a:r>
              <a:t>발표자: 홍찬영</a:t>
            </a:r>
          </a:p>
          <a:p>
            <a:r>
              <a:t>날짜: 2025-05-02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HTTP 메시지란?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 err="1"/>
              <a:t>HTTP는</a:t>
            </a:r>
            <a:r>
              <a:rPr dirty="0"/>
              <a:t> </a:t>
            </a:r>
            <a:r>
              <a:rPr dirty="0" err="1"/>
              <a:t>웹의</a:t>
            </a:r>
            <a:r>
              <a:rPr dirty="0"/>
              <a:t> ‘</a:t>
            </a:r>
            <a:r>
              <a:rPr dirty="0" err="1"/>
              <a:t>배달</a:t>
            </a:r>
            <a:r>
              <a:rPr dirty="0"/>
              <a:t> </a:t>
            </a:r>
            <a:r>
              <a:rPr dirty="0" err="1"/>
              <a:t>시스템</a:t>
            </a:r>
            <a:r>
              <a:rPr dirty="0"/>
              <a:t>’</a:t>
            </a:r>
          </a:p>
          <a:p>
            <a:r>
              <a:rPr dirty="0"/>
              <a:t>- </a:t>
            </a:r>
            <a:r>
              <a:rPr dirty="0" err="1"/>
              <a:t>메시지는</a:t>
            </a:r>
            <a:r>
              <a:rPr dirty="0"/>
              <a:t> </a:t>
            </a:r>
            <a:r>
              <a:rPr dirty="0" err="1"/>
              <a:t>웹에서</a:t>
            </a:r>
            <a:r>
              <a:rPr dirty="0"/>
              <a:t> </a:t>
            </a:r>
            <a:r>
              <a:rPr dirty="0" err="1"/>
              <a:t>데이터를</a:t>
            </a:r>
            <a:r>
              <a:rPr dirty="0"/>
              <a:t> </a:t>
            </a:r>
            <a:r>
              <a:rPr dirty="0" err="1"/>
              <a:t>주고받는</a:t>
            </a:r>
            <a:r>
              <a:rPr dirty="0"/>
              <a:t> </a:t>
            </a:r>
            <a:r>
              <a:rPr dirty="0" err="1"/>
              <a:t>단위</a:t>
            </a:r>
            <a:endParaRPr dirty="0"/>
          </a:p>
          <a:p>
            <a:r>
              <a:rPr dirty="0"/>
              <a:t>- </a:t>
            </a:r>
            <a:r>
              <a:rPr dirty="0" err="1"/>
              <a:t>구성</a:t>
            </a:r>
            <a:r>
              <a:rPr dirty="0"/>
              <a:t> </a:t>
            </a:r>
            <a:r>
              <a:rPr dirty="0" err="1"/>
              <a:t>요소</a:t>
            </a:r>
            <a:r>
              <a:rPr dirty="0"/>
              <a:t>: </a:t>
            </a:r>
            <a:r>
              <a:rPr dirty="0" err="1"/>
              <a:t>시작줄</a:t>
            </a:r>
            <a:r>
              <a:rPr dirty="0"/>
              <a:t>, </a:t>
            </a:r>
            <a:r>
              <a:rPr dirty="0" err="1"/>
              <a:t>헤더</a:t>
            </a:r>
            <a:r>
              <a:rPr dirty="0"/>
              <a:t>, </a:t>
            </a:r>
            <a:r>
              <a:rPr dirty="0" err="1"/>
              <a:t>본문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메시지의 흐름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인바운드: 클라이언트 → 서버</a:t>
            </a:r>
          </a:p>
          <a:p>
            <a:r>
              <a:t>- 아웃바운드: 서버 → 클라이언트</a:t>
            </a:r>
          </a:p>
          <a:p>
            <a:r>
              <a:t>- 다운스트림 방향으로 흐름</a:t>
            </a:r>
          </a:p>
          <a:p>
            <a:r>
              <a:t>- 프락시 서버도 경유 가능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99639C-C292-5441-C6A9-FB709D138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453" y="4205055"/>
            <a:ext cx="3105490" cy="249284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CC97EB7-4805-DD0F-6F2D-C2B73EA66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18" y="4433772"/>
            <a:ext cx="4239217" cy="1648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메시지</a:t>
            </a:r>
            <a:r>
              <a:rPr dirty="0"/>
              <a:t> </a:t>
            </a:r>
            <a:r>
              <a:rPr dirty="0" err="1"/>
              <a:t>구조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 err="1"/>
              <a:t>시작줄</a:t>
            </a:r>
            <a:r>
              <a:rPr dirty="0"/>
              <a:t>: </a:t>
            </a:r>
            <a:r>
              <a:rPr dirty="0" err="1"/>
              <a:t>메시지의</a:t>
            </a:r>
            <a:r>
              <a:rPr dirty="0"/>
              <a:t> </a:t>
            </a:r>
            <a:r>
              <a:rPr dirty="0" err="1"/>
              <a:t>목적</a:t>
            </a:r>
            <a:r>
              <a:rPr dirty="0"/>
              <a:t> </a:t>
            </a:r>
            <a:r>
              <a:rPr dirty="0" err="1"/>
              <a:t>설명</a:t>
            </a:r>
            <a:endParaRPr dirty="0"/>
          </a:p>
          <a:p>
            <a:r>
              <a:rPr dirty="0"/>
              <a:t>- </a:t>
            </a:r>
            <a:r>
              <a:rPr dirty="0" err="1"/>
              <a:t>헤더</a:t>
            </a:r>
            <a:r>
              <a:rPr dirty="0"/>
              <a:t>: </a:t>
            </a:r>
            <a:r>
              <a:rPr dirty="0" err="1"/>
              <a:t>메타데이터</a:t>
            </a:r>
            <a:r>
              <a:rPr dirty="0"/>
              <a:t> </a:t>
            </a:r>
            <a:r>
              <a:rPr dirty="0" err="1"/>
              <a:t>전달</a:t>
            </a:r>
            <a:r>
              <a:rPr dirty="0"/>
              <a:t> (예: Content-Type)</a:t>
            </a:r>
          </a:p>
          <a:p>
            <a:r>
              <a:rPr dirty="0"/>
              <a:t>- </a:t>
            </a:r>
            <a:r>
              <a:rPr dirty="0" err="1"/>
              <a:t>본문</a:t>
            </a:r>
            <a:r>
              <a:rPr dirty="0"/>
              <a:t>: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콘텐츠</a:t>
            </a:r>
            <a:r>
              <a:rPr dirty="0"/>
              <a:t> (</a:t>
            </a:r>
            <a:r>
              <a:rPr dirty="0" err="1"/>
              <a:t>선택적</a:t>
            </a:r>
            <a:r>
              <a:rPr dirty="0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FE8C4CF-569F-EE0E-3004-0BC684457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079" y="3726990"/>
            <a:ext cx="3091749" cy="15941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1F7695-FA97-3957-8700-332EA2287E4F}"/>
              </a:ext>
            </a:extLst>
          </p:cNvPr>
          <p:cNvSpPr txBox="1"/>
          <p:nvPr/>
        </p:nvSpPr>
        <p:spPr>
          <a:xfrm>
            <a:off x="5509173" y="3540015"/>
            <a:ext cx="30917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요청 메시지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메서드</a:t>
            </a:r>
            <a:r>
              <a:rPr lang="en-US" altLang="ko-KR" dirty="0"/>
              <a:t>&gt; &lt;</a:t>
            </a:r>
            <a:r>
              <a:rPr lang="ko-KR" altLang="en-US" dirty="0"/>
              <a:t>요청 </a:t>
            </a:r>
            <a:r>
              <a:rPr lang="en-US" altLang="ko-KR" dirty="0"/>
              <a:t>URL&gt; &lt;</a:t>
            </a:r>
            <a:r>
              <a:rPr lang="ko-KR" altLang="en-US" dirty="0"/>
              <a:t>버전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</a:t>
            </a:r>
            <a:r>
              <a:rPr lang="ko-KR" altLang="en-US" dirty="0"/>
              <a:t>헤더</a:t>
            </a:r>
            <a:r>
              <a:rPr lang="en-US" altLang="ko-KR" dirty="0"/>
              <a:t>&gt;</a:t>
            </a:r>
          </a:p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본문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04CB60-31CF-A519-609B-2F73304DDE55}"/>
              </a:ext>
            </a:extLst>
          </p:cNvPr>
          <p:cNvSpPr txBox="1"/>
          <p:nvPr/>
        </p:nvSpPr>
        <p:spPr>
          <a:xfrm>
            <a:off x="5509173" y="5017343"/>
            <a:ext cx="3417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응답 메시지</a:t>
            </a:r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버전</a:t>
            </a:r>
            <a:r>
              <a:rPr lang="en-US" altLang="ko-KR" dirty="0"/>
              <a:t>&gt; &lt;</a:t>
            </a:r>
            <a:r>
              <a:rPr lang="ko-KR" altLang="en-US" dirty="0"/>
              <a:t>상태코드</a:t>
            </a:r>
            <a:r>
              <a:rPr lang="en-US" altLang="ko-KR" dirty="0"/>
              <a:t>&gt; &lt;</a:t>
            </a:r>
            <a:r>
              <a:rPr lang="ko-KR" altLang="en-US" dirty="0"/>
              <a:t>사유구절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</a:t>
            </a:r>
            <a:r>
              <a:rPr lang="ko-KR" altLang="en-US" dirty="0"/>
              <a:t>헤더</a:t>
            </a:r>
            <a:r>
              <a:rPr lang="en-US" altLang="ko-KR" dirty="0"/>
              <a:t>&gt;</a:t>
            </a:r>
          </a:p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ko-KR" altLang="en-US" dirty="0"/>
              <a:t>본문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2E01C-F07B-5946-2C2F-885EB76B8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메시지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6FB35A-0AE9-F8C5-EC85-2C7148352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메서드 </a:t>
            </a:r>
            <a:r>
              <a:rPr lang="en-US" altLang="ko-KR" sz="1600" dirty="0"/>
              <a:t>: </a:t>
            </a:r>
            <a:r>
              <a:rPr lang="ko-KR" altLang="en-US" sz="1600" dirty="0"/>
              <a:t>클라이언트 에서 서버가 리소스에 대해 </a:t>
            </a:r>
            <a:r>
              <a:rPr lang="ko-KR" altLang="en-US" sz="1600" dirty="0" err="1"/>
              <a:t>수행해주길</a:t>
            </a:r>
            <a:r>
              <a:rPr lang="ko-KR" altLang="en-US" sz="1600" dirty="0"/>
              <a:t> 바라는 동작</a:t>
            </a:r>
            <a:endParaRPr lang="en-US" altLang="ko-KR" sz="1600" dirty="0"/>
          </a:p>
          <a:p>
            <a:r>
              <a:rPr lang="en-US" altLang="ko-KR" sz="1600" dirty="0"/>
              <a:t>GET, POST </a:t>
            </a:r>
            <a:r>
              <a:rPr lang="ko-KR" altLang="en-US" sz="1600" dirty="0"/>
              <a:t>등</a:t>
            </a:r>
            <a:endParaRPr lang="en-US" altLang="ko-KR" sz="1600" dirty="0"/>
          </a:p>
          <a:p>
            <a:r>
              <a:rPr lang="ko-KR" altLang="en-US" sz="1600" dirty="0"/>
              <a:t>요청 </a:t>
            </a:r>
            <a:r>
              <a:rPr lang="en-US" altLang="ko-KR" sz="1600" dirty="0"/>
              <a:t>URL : </a:t>
            </a:r>
            <a:r>
              <a:rPr lang="ko-KR" altLang="en-US" sz="1600" dirty="0"/>
              <a:t>요청 대상이 되는 리소스를 지칭하는 완전한 </a:t>
            </a:r>
            <a:r>
              <a:rPr lang="en-US" altLang="ko-KR" sz="1600" dirty="0"/>
              <a:t>URL </a:t>
            </a:r>
            <a:r>
              <a:rPr lang="ko-KR" altLang="en-US" sz="1600" dirty="0"/>
              <a:t>혹은 </a:t>
            </a:r>
            <a:r>
              <a:rPr lang="en-US" altLang="ko-KR" sz="1600" dirty="0"/>
              <a:t>URL</a:t>
            </a:r>
            <a:r>
              <a:rPr lang="ko-KR" altLang="en-US" sz="1600" dirty="0"/>
              <a:t>의 경로 구성요소</a:t>
            </a:r>
            <a:endParaRPr lang="en-US" altLang="ko-KR" sz="1600" dirty="0"/>
          </a:p>
          <a:p>
            <a:r>
              <a:rPr lang="en-US" altLang="ko-KR" sz="1600" dirty="0"/>
              <a:t>/ specials/saw-blade.gif</a:t>
            </a:r>
          </a:p>
          <a:p>
            <a:r>
              <a:rPr lang="ko-KR" altLang="en-US" sz="1600" dirty="0"/>
              <a:t>버전 </a:t>
            </a:r>
            <a:r>
              <a:rPr lang="en-US" altLang="ko-KR" sz="1600" dirty="0"/>
              <a:t>: </a:t>
            </a:r>
            <a:r>
              <a:rPr lang="ko-KR" altLang="en-US" sz="1600" dirty="0"/>
              <a:t>사용중인 </a:t>
            </a:r>
            <a:r>
              <a:rPr lang="en-US" altLang="ko-KR" sz="1600" dirty="0"/>
              <a:t>HTTP </a:t>
            </a:r>
            <a:r>
              <a:rPr lang="ko-KR" altLang="en-US" sz="1600" dirty="0"/>
              <a:t>버전</a:t>
            </a:r>
            <a:r>
              <a:rPr lang="en-US" altLang="ko-KR" sz="1600" dirty="0"/>
              <a:t>. HTTP/</a:t>
            </a:r>
            <a:r>
              <a:rPr lang="ko-KR" altLang="en-US" sz="1600" dirty="0"/>
              <a:t>메이저</a:t>
            </a:r>
            <a:r>
              <a:rPr lang="en-US" altLang="ko-KR" sz="1600" dirty="0"/>
              <a:t>.</a:t>
            </a:r>
            <a:r>
              <a:rPr lang="ko-KR" altLang="en-US" sz="1600" dirty="0"/>
              <a:t>마이너</a:t>
            </a:r>
            <a:r>
              <a:rPr lang="en-US" altLang="ko-KR" sz="1600" dirty="0"/>
              <a:t> </a:t>
            </a:r>
            <a:r>
              <a:rPr lang="ko-KR" altLang="en-US" sz="1600" dirty="0"/>
              <a:t>형태</a:t>
            </a:r>
            <a:r>
              <a:rPr lang="en-US" altLang="ko-KR" sz="1600" dirty="0"/>
              <a:t>. </a:t>
            </a:r>
          </a:p>
          <a:p>
            <a:r>
              <a:rPr lang="en-US" altLang="ko-KR" sz="1600" dirty="0"/>
              <a:t>HTTP/1.1 </a:t>
            </a:r>
            <a:r>
              <a:rPr lang="ko-KR" altLang="en-US" sz="1600" dirty="0"/>
              <a:t>등</a:t>
            </a:r>
            <a:endParaRPr lang="en-US" altLang="ko-KR" sz="1600" dirty="0"/>
          </a:p>
          <a:p>
            <a:r>
              <a:rPr lang="ko-KR" altLang="en-US" sz="1600" dirty="0"/>
              <a:t>상태코드 </a:t>
            </a:r>
            <a:r>
              <a:rPr lang="en-US" altLang="ko-KR" sz="1600" dirty="0"/>
              <a:t>: </a:t>
            </a:r>
            <a:r>
              <a:rPr lang="ko-KR" altLang="en-US" sz="1600" dirty="0"/>
              <a:t>요청 중에 무엇이 일어났는지 설명하는 </a:t>
            </a:r>
            <a:r>
              <a:rPr lang="en-US" altLang="ko-KR" sz="1600" dirty="0"/>
              <a:t>3 </a:t>
            </a:r>
            <a:r>
              <a:rPr lang="ko-KR" altLang="en-US" sz="1600" dirty="0"/>
              <a:t>자리의 숫자</a:t>
            </a:r>
            <a:endParaRPr lang="en-US" altLang="ko-KR" sz="1600" dirty="0"/>
          </a:p>
          <a:p>
            <a:r>
              <a:rPr lang="en-US" altLang="ko-KR" sz="1600" dirty="0"/>
              <a:t>100, 200 404 </a:t>
            </a:r>
            <a:r>
              <a:rPr lang="ko-KR" altLang="en-US" sz="1600" dirty="0"/>
              <a:t>등</a:t>
            </a:r>
            <a:endParaRPr lang="en-US" altLang="ko-KR" sz="1600" dirty="0"/>
          </a:p>
          <a:p>
            <a:r>
              <a:rPr lang="ko-KR" altLang="en-US" sz="1600" dirty="0"/>
              <a:t>사유구절 </a:t>
            </a:r>
            <a:r>
              <a:rPr lang="en-US" altLang="ko-KR" sz="1600" dirty="0"/>
              <a:t>: </a:t>
            </a:r>
            <a:r>
              <a:rPr lang="ko-KR" altLang="en-US" sz="1600" dirty="0"/>
              <a:t>숫자로 된 상태 코드의 의미를 사람이 이해할 수 있게 설명해주는 짧은 문구</a:t>
            </a:r>
            <a:endParaRPr lang="en-US" altLang="ko-KR" sz="1600" dirty="0"/>
          </a:p>
          <a:p>
            <a:r>
              <a:rPr lang="en-US" altLang="ko-KR" sz="1600" dirty="0"/>
              <a:t>OK, NOT OK </a:t>
            </a:r>
            <a:r>
              <a:rPr lang="ko-KR" altLang="en-US" sz="1600" dirty="0"/>
              <a:t>등</a:t>
            </a:r>
            <a:endParaRPr lang="en-US" altLang="ko-KR" sz="1600" dirty="0"/>
          </a:p>
          <a:p>
            <a:r>
              <a:rPr lang="ko-KR" altLang="en-US" sz="1600" dirty="0"/>
              <a:t>헤더 </a:t>
            </a:r>
            <a:r>
              <a:rPr lang="en-US" altLang="ko-KR" sz="1600" dirty="0"/>
              <a:t>: </a:t>
            </a:r>
            <a:r>
              <a:rPr lang="ko-KR" altLang="en-US" sz="1600" dirty="0"/>
              <a:t>이름</a:t>
            </a:r>
            <a:r>
              <a:rPr lang="en-US" altLang="ko-KR" sz="1600" dirty="0"/>
              <a:t>, </a:t>
            </a:r>
            <a:r>
              <a:rPr lang="ko-KR" altLang="en-US" sz="1600" dirty="0"/>
              <a:t>콜론</a:t>
            </a:r>
            <a:r>
              <a:rPr lang="en-US" altLang="ko-KR" sz="1600" dirty="0"/>
              <a:t>, </a:t>
            </a:r>
            <a:r>
              <a:rPr lang="ko-KR" altLang="en-US" sz="1600" dirty="0"/>
              <a:t>선택적인 공백</a:t>
            </a:r>
            <a:r>
              <a:rPr lang="en-US" altLang="ko-KR" sz="1600" dirty="0"/>
              <a:t>, </a:t>
            </a:r>
            <a:r>
              <a:rPr lang="ko-KR" altLang="en-US" sz="1600" dirty="0"/>
              <a:t>값</a:t>
            </a:r>
            <a:r>
              <a:rPr lang="en-US" altLang="ko-KR" sz="1600" dirty="0"/>
              <a:t>, CRLF</a:t>
            </a:r>
            <a:r>
              <a:rPr lang="ko-KR" altLang="en-US" sz="1600" dirty="0"/>
              <a:t>가 순서대로 나타나는 </a:t>
            </a:r>
            <a:r>
              <a:rPr lang="en-US" altLang="ko-KR" sz="1600" dirty="0"/>
              <a:t>0</a:t>
            </a:r>
            <a:r>
              <a:rPr lang="ko-KR" altLang="en-US" sz="1600" dirty="0"/>
              <a:t>개 이상의 헤더들</a:t>
            </a:r>
            <a:r>
              <a:rPr lang="en-US" altLang="ko-KR" sz="1600" dirty="0"/>
              <a:t>. Content-type: text/plane </a:t>
            </a:r>
            <a:r>
              <a:rPr lang="ko-KR" altLang="en-US" sz="1600" dirty="0"/>
              <a:t>등등</a:t>
            </a:r>
            <a:endParaRPr lang="en-US" altLang="ko-KR" sz="1600" dirty="0"/>
          </a:p>
          <a:p>
            <a:r>
              <a:rPr lang="ko-KR" altLang="en-US" sz="1600" dirty="0" err="1"/>
              <a:t>엔터티본문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엔터티</a:t>
            </a:r>
            <a:r>
              <a:rPr lang="ko-KR" altLang="en-US" sz="1600" dirty="0"/>
              <a:t> 본문은 임의의 데이터 블록을 포함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508D2A-3374-656B-10B4-4858CBB4F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913" y="5400511"/>
            <a:ext cx="5211154" cy="145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75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요청 vs 응답 메시지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</a:t>
            </a:r>
            <a:r>
              <a:rPr dirty="0" err="1"/>
              <a:t>요청</a:t>
            </a:r>
            <a:r>
              <a:rPr dirty="0"/>
              <a:t> </a:t>
            </a:r>
            <a:r>
              <a:rPr dirty="0" err="1"/>
              <a:t>메시지</a:t>
            </a:r>
            <a:r>
              <a:rPr dirty="0"/>
              <a:t>:</a:t>
            </a:r>
            <a:r>
              <a:rPr lang="en-US" dirty="0"/>
              <a:t> </a:t>
            </a:r>
            <a:r>
              <a:rPr lang="ko-KR" altLang="en-US" dirty="0"/>
              <a:t>메서드 </a:t>
            </a:r>
            <a:r>
              <a:rPr lang="en-US" altLang="ko-KR" dirty="0"/>
              <a:t>/ </a:t>
            </a:r>
            <a:r>
              <a:rPr lang="ko-KR" altLang="en-US" dirty="0"/>
              <a:t>요청 </a:t>
            </a:r>
            <a:r>
              <a:rPr lang="en-US" altLang="ko-KR" dirty="0"/>
              <a:t>URL / </a:t>
            </a:r>
            <a:r>
              <a:rPr lang="ko-KR" altLang="en-US" dirty="0"/>
              <a:t>버전</a:t>
            </a:r>
            <a:endParaRPr lang="en-US" dirty="0"/>
          </a:p>
          <a:p>
            <a:r>
              <a:rPr dirty="0"/>
              <a:t>GET /index.html HTTP/1.1</a:t>
            </a:r>
          </a:p>
          <a:p>
            <a:r>
              <a:rPr dirty="0"/>
              <a:t>- </a:t>
            </a:r>
            <a:r>
              <a:rPr dirty="0" err="1"/>
              <a:t>응답</a:t>
            </a:r>
            <a:r>
              <a:rPr dirty="0"/>
              <a:t> </a:t>
            </a:r>
            <a:r>
              <a:rPr dirty="0" err="1"/>
              <a:t>메시지</a:t>
            </a:r>
            <a:r>
              <a:rPr dirty="0"/>
              <a:t>: </a:t>
            </a:r>
            <a:r>
              <a:rPr lang="ko-KR" altLang="en-US" dirty="0"/>
              <a:t>버전 </a:t>
            </a:r>
            <a:r>
              <a:rPr lang="en-US" altLang="ko-KR" dirty="0"/>
              <a:t>/ </a:t>
            </a:r>
            <a:r>
              <a:rPr lang="ko-KR" altLang="en-US" dirty="0"/>
              <a:t>상태코드 </a:t>
            </a:r>
            <a:r>
              <a:rPr lang="en-US" altLang="ko-KR" dirty="0"/>
              <a:t>/ </a:t>
            </a:r>
            <a:r>
              <a:rPr lang="ko-KR" altLang="en-US" dirty="0"/>
              <a:t>사유구절</a:t>
            </a:r>
            <a:endParaRPr lang="en-US" dirty="0"/>
          </a:p>
          <a:p>
            <a:r>
              <a:rPr dirty="0"/>
              <a:t>HTTP/1.1 200 OK</a:t>
            </a:r>
          </a:p>
          <a:p>
            <a:r>
              <a:rPr dirty="0"/>
              <a:t>- </a:t>
            </a:r>
            <a:r>
              <a:rPr dirty="0" err="1"/>
              <a:t>차이점은</a:t>
            </a:r>
            <a:r>
              <a:rPr dirty="0"/>
              <a:t> </a:t>
            </a:r>
            <a:r>
              <a:rPr dirty="0" err="1"/>
              <a:t>시작줄</a:t>
            </a:r>
            <a:r>
              <a:rPr dirty="0"/>
              <a:t> </a:t>
            </a:r>
            <a:r>
              <a:rPr dirty="0" err="1"/>
              <a:t>형식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메서드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GET: </a:t>
            </a:r>
            <a:r>
              <a:rPr dirty="0" err="1"/>
              <a:t>리소스</a:t>
            </a:r>
            <a:r>
              <a:rPr dirty="0"/>
              <a:t> </a:t>
            </a:r>
            <a:r>
              <a:rPr dirty="0" err="1"/>
              <a:t>요청</a:t>
            </a:r>
            <a:endParaRPr dirty="0"/>
          </a:p>
          <a:p>
            <a:r>
              <a:rPr dirty="0"/>
              <a:t>- POST: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전송</a:t>
            </a:r>
            <a:endParaRPr dirty="0"/>
          </a:p>
          <a:p>
            <a:r>
              <a:rPr dirty="0"/>
              <a:t>- PUT: </a:t>
            </a:r>
            <a:r>
              <a:rPr dirty="0" err="1"/>
              <a:t>리소스</a:t>
            </a:r>
            <a:r>
              <a:rPr dirty="0"/>
              <a:t> </a:t>
            </a:r>
            <a:r>
              <a:rPr dirty="0" err="1"/>
              <a:t>업로드</a:t>
            </a:r>
            <a:endParaRPr dirty="0"/>
          </a:p>
          <a:p>
            <a:r>
              <a:rPr dirty="0"/>
              <a:t>- DELETE: </a:t>
            </a:r>
            <a:r>
              <a:rPr dirty="0" err="1"/>
              <a:t>리소스</a:t>
            </a:r>
            <a:r>
              <a:rPr dirty="0"/>
              <a:t> </a:t>
            </a:r>
            <a:r>
              <a:rPr dirty="0" err="1"/>
              <a:t>삭제</a:t>
            </a:r>
            <a:endParaRPr dirty="0"/>
          </a:p>
          <a:p>
            <a:r>
              <a:rPr dirty="0"/>
              <a:t>- </a:t>
            </a:r>
            <a:r>
              <a:rPr dirty="0" err="1"/>
              <a:t>기타</a:t>
            </a:r>
            <a:r>
              <a:rPr dirty="0"/>
              <a:t>: HEAD, OPTIONS, TRACE 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77A9F6-6AA5-8252-6923-06CBE9149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메서드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C47E1-5D58-1C3F-BC80-405213521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2400" dirty="0"/>
              <a:t>안전한 메서드 </a:t>
            </a:r>
            <a:r>
              <a:rPr lang="en-US" altLang="ko-KR" sz="2400" dirty="0"/>
              <a:t>: </a:t>
            </a:r>
            <a:r>
              <a:rPr lang="ko-KR" altLang="en-US" sz="2400" dirty="0"/>
              <a:t>서버에 변화를 가하지 않는 메서드들</a:t>
            </a:r>
            <a:r>
              <a:rPr lang="en-US" altLang="ko-KR" sz="2400" dirty="0"/>
              <a:t>. GET, HEAD </a:t>
            </a:r>
            <a:r>
              <a:rPr lang="ko-KR" altLang="en-US" sz="2400" dirty="0"/>
              <a:t>메서드가 대표적임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TRACE </a:t>
            </a:r>
            <a:r>
              <a:rPr lang="ko-KR" altLang="en-US" sz="2400" dirty="0"/>
              <a:t>메서드 </a:t>
            </a:r>
            <a:r>
              <a:rPr lang="en-US" altLang="ko-KR" sz="2400" dirty="0"/>
              <a:t>: </a:t>
            </a:r>
            <a:r>
              <a:rPr lang="ko-KR" altLang="en-US" sz="2400" dirty="0"/>
              <a:t>클라이언트에게 자신의 요청이 서버에 </a:t>
            </a:r>
            <a:r>
              <a:rPr lang="ko-KR" altLang="en-US" sz="2400" dirty="0" err="1"/>
              <a:t>도달했을때</a:t>
            </a:r>
            <a:r>
              <a:rPr lang="ko-KR" altLang="en-US" sz="2400" dirty="0"/>
              <a:t> 어떻게 보이게 되는지 알려준다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OPTIONS </a:t>
            </a:r>
            <a:r>
              <a:rPr lang="ko-KR" altLang="en-US" sz="2400" dirty="0"/>
              <a:t>메서드 </a:t>
            </a:r>
            <a:r>
              <a:rPr lang="en-US" altLang="ko-KR" sz="2400" dirty="0"/>
              <a:t>: </a:t>
            </a:r>
            <a:r>
              <a:rPr lang="ko-KR" altLang="en-US" sz="2400" dirty="0"/>
              <a:t>특정 리소스에 대해 어떤 메서드가 지원되는지 물어보는 메서드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확장 메서드 </a:t>
            </a:r>
            <a:r>
              <a:rPr lang="en-US" altLang="ko-KR" sz="2400" dirty="0"/>
              <a:t>: </a:t>
            </a:r>
            <a:r>
              <a:rPr lang="ko-KR" altLang="en-US" sz="2400" dirty="0"/>
              <a:t>사용자 정의한 메서드</a:t>
            </a:r>
            <a:r>
              <a:rPr lang="en-US" altLang="ko-KR" sz="2400" dirty="0"/>
              <a:t>. </a:t>
            </a:r>
            <a:r>
              <a:rPr lang="ko-KR" altLang="en-US" sz="2400" dirty="0"/>
              <a:t>기본 </a:t>
            </a:r>
            <a:r>
              <a:rPr lang="en-US" altLang="ko-KR" sz="2400" dirty="0"/>
              <a:t>HTTP</a:t>
            </a:r>
            <a:r>
              <a:rPr lang="ko-KR" altLang="en-US" sz="2400" dirty="0"/>
              <a:t>에는 없음</a:t>
            </a:r>
            <a:r>
              <a:rPr lang="en-US" altLang="ko-KR" sz="2400" dirty="0"/>
              <a:t>. </a:t>
            </a:r>
            <a:r>
              <a:rPr lang="ko-KR" altLang="en-US" sz="2400" dirty="0"/>
              <a:t>서버나 특정 앱이 자체적으로 정의한 메서드임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69986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상태 코드 분류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- 1xx: </a:t>
            </a:r>
            <a:r>
              <a:rPr dirty="0" err="1"/>
              <a:t>정보</a:t>
            </a:r>
            <a:r>
              <a:rPr dirty="0"/>
              <a:t> (100 Continue)</a:t>
            </a:r>
          </a:p>
          <a:p>
            <a:r>
              <a:rPr dirty="0"/>
              <a:t>- 2xx: </a:t>
            </a:r>
            <a:r>
              <a:rPr dirty="0" err="1"/>
              <a:t>성공</a:t>
            </a:r>
            <a:r>
              <a:rPr dirty="0"/>
              <a:t> (200 OK)</a:t>
            </a:r>
          </a:p>
          <a:p>
            <a:r>
              <a:rPr dirty="0"/>
              <a:t>- 3xx: </a:t>
            </a:r>
            <a:r>
              <a:rPr dirty="0" err="1"/>
              <a:t>리다이렉션</a:t>
            </a:r>
            <a:r>
              <a:rPr dirty="0"/>
              <a:t> (301, 302)</a:t>
            </a:r>
          </a:p>
          <a:p>
            <a:r>
              <a:rPr dirty="0"/>
              <a:t>- 4xx: </a:t>
            </a:r>
            <a:r>
              <a:rPr dirty="0" err="1"/>
              <a:t>클라이언트</a:t>
            </a:r>
            <a:r>
              <a:rPr dirty="0"/>
              <a:t> </a:t>
            </a:r>
            <a:r>
              <a:rPr dirty="0" err="1"/>
              <a:t>오류</a:t>
            </a:r>
            <a:r>
              <a:rPr dirty="0"/>
              <a:t> (404 Not Found)</a:t>
            </a:r>
          </a:p>
          <a:p>
            <a:r>
              <a:rPr dirty="0"/>
              <a:t>- 5xx: </a:t>
            </a:r>
            <a:r>
              <a:rPr dirty="0" err="1"/>
              <a:t>서버</a:t>
            </a:r>
            <a:r>
              <a:rPr dirty="0"/>
              <a:t> </a:t>
            </a:r>
            <a:r>
              <a:rPr dirty="0" err="1"/>
              <a:t>오류</a:t>
            </a:r>
            <a:r>
              <a:rPr dirty="0"/>
              <a:t> (500 Internal Server Error)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93410-461D-7002-8304-F75EED485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EDCACC-A53A-2DE2-4FED-991A41906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성공 상태 코드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A12EB2A-393B-1053-A2AB-FF3693C46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949717"/>
              </p:ext>
            </p:extLst>
          </p:nvPr>
        </p:nvGraphicFramePr>
        <p:xfrm>
          <a:off x="457200" y="2505665"/>
          <a:ext cx="6983370" cy="4076128"/>
        </p:xfrm>
        <a:graphic>
          <a:graphicData uri="http://schemas.openxmlformats.org/drawingml/2006/table">
            <a:tbl>
              <a:tblPr/>
              <a:tblGrid>
                <a:gridCol w="2327790">
                  <a:extLst>
                    <a:ext uri="{9D8B030D-6E8A-4147-A177-3AD203B41FA5}">
                      <a16:colId xmlns:a16="http://schemas.microsoft.com/office/drawing/2014/main" val="316032601"/>
                    </a:ext>
                  </a:extLst>
                </a:gridCol>
                <a:gridCol w="2327790">
                  <a:extLst>
                    <a:ext uri="{9D8B030D-6E8A-4147-A177-3AD203B41FA5}">
                      <a16:colId xmlns:a16="http://schemas.microsoft.com/office/drawing/2014/main" val="2530632074"/>
                    </a:ext>
                  </a:extLst>
                </a:gridCol>
                <a:gridCol w="2327790">
                  <a:extLst>
                    <a:ext uri="{9D8B030D-6E8A-4147-A177-3AD203B41FA5}">
                      <a16:colId xmlns:a16="http://schemas.microsoft.com/office/drawing/2014/main" val="1686677468"/>
                    </a:ext>
                  </a:extLst>
                </a:gridCol>
              </a:tblGrid>
              <a:tr h="127869">
                <a:tc>
                  <a:txBody>
                    <a:bodyPr/>
                    <a:lstStyle/>
                    <a:p>
                      <a:r>
                        <a:rPr lang="ko-KR" altLang="en-US" sz="1300" b="1"/>
                        <a:t>상태 코드</a:t>
                      </a:r>
                      <a:endParaRPr lang="ko-KR" altLang="en-US" sz="1300"/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b="1"/>
                        <a:t>사유 구절</a:t>
                      </a:r>
                      <a:endParaRPr lang="ko-KR" altLang="en-US" sz="1300"/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b="1"/>
                        <a:t>설명</a:t>
                      </a:r>
                      <a:endParaRPr lang="ko-KR" altLang="en-US" sz="1300"/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651370"/>
                  </a:ext>
                </a:extLst>
              </a:tr>
              <a:tr h="224611">
                <a:tc>
                  <a:txBody>
                    <a:bodyPr/>
                    <a:lstStyle/>
                    <a:p>
                      <a:r>
                        <a:rPr lang="en-US" altLang="ko-KR" sz="1300" b="1" dirty="0"/>
                        <a:t>200</a:t>
                      </a:r>
                      <a:endParaRPr lang="ko-KR" altLang="en-US" sz="1300" dirty="0"/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OK</a:t>
                      </a:r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요청 성공</a:t>
                      </a:r>
                      <a:r>
                        <a:rPr lang="en-US" altLang="ko-KR" sz="1300" dirty="0"/>
                        <a:t>. </a:t>
                      </a:r>
                      <a:r>
                        <a:rPr lang="ko-KR" altLang="en-US" sz="1300" dirty="0"/>
                        <a:t>응답 본문에 요청 리소스 포함</a:t>
                      </a:r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031963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r>
                        <a:rPr lang="en-US" altLang="ko-KR" sz="1300" b="0" dirty="0"/>
                        <a:t>201</a:t>
                      </a:r>
                      <a:endParaRPr lang="ko-KR" altLang="en-US" sz="1300" b="0" dirty="0"/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Created</a:t>
                      </a:r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리소스 생성 성공</a:t>
                      </a:r>
                      <a:r>
                        <a:rPr lang="en-US" altLang="ko-KR" sz="1300"/>
                        <a:t>. Location </a:t>
                      </a:r>
                      <a:r>
                        <a:rPr lang="ko-KR" altLang="en-US" sz="1300"/>
                        <a:t>헤더로 새 리소스 위치 제공</a:t>
                      </a:r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682837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r>
                        <a:rPr lang="en-US" altLang="ko-KR" sz="1300" b="0" dirty="0"/>
                        <a:t>202</a:t>
                      </a:r>
                      <a:endParaRPr lang="ko-KR" altLang="en-US" sz="1300" b="0" dirty="0"/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Accepted</a:t>
                      </a:r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요청 수락했지만 아직 처리되지 않음</a:t>
                      </a:r>
                      <a:r>
                        <a:rPr lang="en-US" altLang="ko-KR" sz="1300" dirty="0"/>
                        <a:t>. </a:t>
                      </a:r>
                      <a:r>
                        <a:rPr lang="ko-KR" altLang="en-US" sz="1300" dirty="0"/>
                        <a:t>성공 여부는 미정</a:t>
                      </a:r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088592"/>
                  </a:ext>
                </a:extLst>
              </a:tr>
              <a:tr h="418094">
                <a:tc>
                  <a:txBody>
                    <a:bodyPr/>
                    <a:lstStyle/>
                    <a:p>
                      <a:r>
                        <a:rPr lang="en-US" altLang="ko-KR" sz="1300"/>
                        <a:t>203</a:t>
                      </a:r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Non-Authoritative Info</a:t>
                      </a:r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응답 헤더 정보가 원본 서버가 아님</a:t>
                      </a:r>
                      <a:r>
                        <a:rPr lang="en-US" altLang="ko-KR" sz="1300" dirty="0"/>
                        <a:t>. </a:t>
                      </a:r>
                      <a:r>
                        <a:rPr lang="ko-KR" altLang="en-US" sz="1300" dirty="0"/>
                        <a:t>중개자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 err="1"/>
                        <a:t>프락시</a:t>
                      </a:r>
                      <a:r>
                        <a:rPr lang="ko-KR" altLang="en-US" sz="1300" dirty="0"/>
                        <a:t> 등</a:t>
                      </a:r>
                      <a:r>
                        <a:rPr lang="en-US" altLang="ko-KR" sz="1300" dirty="0"/>
                        <a:t>)</a:t>
                      </a:r>
                      <a:r>
                        <a:rPr lang="ko-KR" altLang="en-US" sz="1300" dirty="0"/>
                        <a:t>에서 수정되었을 수 있음</a:t>
                      </a:r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3972322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r>
                        <a:rPr lang="en-US" altLang="ko-KR" sz="1300" b="0" dirty="0"/>
                        <a:t>204</a:t>
                      </a:r>
                      <a:endParaRPr lang="ko-KR" altLang="en-US" sz="1300" b="0" dirty="0"/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 Content</a:t>
                      </a:r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본문 없음</a:t>
                      </a:r>
                      <a:r>
                        <a:rPr lang="en-US" altLang="ko-KR" sz="1300" dirty="0"/>
                        <a:t>. </a:t>
                      </a:r>
                      <a:r>
                        <a:rPr lang="ko-KR" altLang="en-US" sz="1300" dirty="0"/>
                        <a:t>브라우저 </a:t>
                      </a:r>
                      <a:r>
                        <a:rPr lang="ko-KR" altLang="en-US" sz="1300" dirty="0" err="1"/>
                        <a:t>리프레시</a:t>
                      </a:r>
                      <a:r>
                        <a:rPr lang="en-US" altLang="ko-KR" sz="1300" dirty="0"/>
                        <a:t>, UI </a:t>
                      </a:r>
                      <a:r>
                        <a:rPr lang="ko-KR" altLang="en-US" sz="1300" dirty="0"/>
                        <a:t>갱신 등에 사용</a:t>
                      </a:r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269502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r>
                        <a:rPr lang="en-US" altLang="ko-KR" sz="1300"/>
                        <a:t>205</a:t>
                      </a:r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Reset Content</a:t>
                      </a:r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폼 초기화 요청</a:t>
                      </a:r>
                      <a:r>
                        <a:rPr lang="en-US" altLang="ko-KR" sz="1300" dirty="0"/>
                        <a:t>. </a:t>
                      </a:r>
                      <a:r>
                        <a:rPr lang="ko-KR" altLang="en-US" sz="1300" dirty="0"/>
                        <a:t>브라우저 입력 값 초기화에 사용</a:t>
                      </a:r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079644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r>
                        <a:rPr lang="en-US" altLang="ko-KR" sz="1300" b="0" dirty="0"/>
                        <a:t>206</a:t>
                      </a:r>
                      <a:endParaRPr lang="ko-KR" altLang="en-US" sz="1300" b="0" dirty="0"/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Partial Content</a:t>
                      </a:r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범위 요청 성공</a:t>
                      </a:r>
                      <a:r>
                        <a:rPr lang="en-US" altLang="ko-KR" sz="1300" dirty="0"/>
                        <a:t>. </a:t>
                      </a:r>
                      <a:r>
                        <a:rPr lang="ko-KR" altLang="en-US" sz="1300" dirty="0"/>
                        <a:t>파일 일부 전송 등 </a:t>
                      </a:r>
                      <a:r>
                        <a:rPr lang="en-US" altLang="ko-KR" sz="1300" dirty="0"/>
                        <a:t>(</a:t>
                      </a:r>
                      <a:r>
                        <a:rPr lang="ko-KR" altLang="en-US" sz="1300" dirty="0"/>
                        <a:t>예</a:t>
                      </a:r>
                      <a:r>
                        <a:rPr lang="en-US" altLang="ko-KR" sz="1300" dirty="0"/>
                        <a:t>: </a:t>
                      </a:r>
                      <a:r>
                        <a:rPr lang="ko-KR" altLang="en-US" sz="1300" dirty="0"/>
                        <a:t>대용량 다운로드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스트리밍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63746" marR="63746" marT="31873" marB="318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44347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2A0EF76-1A9C-4A35-B547-C43A5E558146}"/>
              </a:ext>
            </a:extLst>
          </p:cNvPr>
          <p:cNvSpPr txBox="1"/>
          <p:nvPr/>
        </p:nvSpPr>
        <p:spPr>
          <a:xfrm>
            <a:off x="579422" y="1417638"/>
            <a:ext cx="3422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요청이 성공했다는 응답</a:t>
            </a:r>
          </a:p>
        </p:txBody>
      </p:sp>
    </p:spTree>
    <p:extLst>
      <p:ext uri="{BB962C8B-B14F-4D97-AF65-F5344CB8AC3E}">
        <p14:creationId xmlns:p14="http://schemas.microsoft.com/office/powerpoint/2010/main" val="2448884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A35D08-F324-DF70-BDE0-9D03AD95A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리다이렉션</a:t>
            </a:r>
            <a:r>
              <a:rPr lang="ko-KR" altLang="en-US" dirty="0"/>
              <a:t> 상태 코드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98580FC-CB29-BA23-F2F4-30FE0C836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910341"/>
              </p:ext>
            </p:extLst>
          </p:nvPr>
        </p:nvGraphicFramePr>
        <p:xfrm>
          <a:off x="367457" y="2009502"/>
          <a:ext cx="5933755" cy="4458259"/>
        </p:xfrm>
        <a:graphic>
          <a:graphicData uri="http://schemas.openxmlformats.org/drawingml/2006/table">
            <a:tbl>
              <a:tblPr/>
              <a:tblGrid>
                <a:gridCol w="1740755">
                  <a:extLst>
                    <a:ext uri="{9D8B030D-6E8A-4147-A177-3AD203B41FA5}">
                      <a16:colId xmlns:a16="http://schemas.microsoft.com/office/drawing/2014/main" val="1658321555"/>
                    </a:ext>
                  </a:extLst>
                </a:gridCol>
                <a:gridCol w="1740755">
                  <a:extLst>
                    <a:ext uri="{9D8B030D-6E8A-4147-A177-3AD203B41FA5}">
                      <a16:colId xmlns:a16="http://schemas.microsoft.com/office/drawing/2014/main" val="3976347612"/>
                    </a:ext>
                  </a:extLst>
                </a:gridCol>
                <a:gridCol w="2452245">
                  <a:extLst>
                    <a:ext uri="{9D8B030D-6E8A-4147-A177-3AD203B41FA5}">
                      <a16:colId xmlns:a16="http://schemas.microsoft.com/office/drawing/2014/main" val="1832520007"/>
                    </a:ext>
                  </a:extLst>
                </a:gridCol>
              </a:tblGrid>
              <a:tr h="232101">
                <a:tc>
                  <a:txBody>
                    <a:bodyPr/>
                    <a:lstStyle/>
                    <a:p>
                      <a:r>
                        <a:rPr lang="ko-KR" altLang="en-US" sz="1100" b="1" dirty="0"/>
                        <a:t>상태 코드</a:t>
                      </a:r>
                      <a:endParaRPr lang="ko-KR" altLang="en-US" sz="1100" dirty="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b="1"/>
                        <a:t>사유 구절</a:t>
                      </a:r>
                      <a:endParaRPr lang="ko-KR" altLang="en-US" sz="110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b="1"/>
                        <a:t>설명</a:t>
                      </a:r>
                      <a:endParaRPr lang="ko-KR" altLang="en-US" sz="110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648524"/>
                  </a:ext>
                </a:extLst>
              </a:tr>
              <a:tr h="512547">
                <a:tc>
                  <a:txBody>
                    <a:bodyPr/>
                    <a:lstStyle/>
                    <a:p>
                      <a:r>
                        <a:rPr lang="en-US" altLang="ko-KR" sz="1100"/>
                        <a:t>300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Multiple Choices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여러 리소스 중 선택 가능</a:t>
                      </a:r>
                      <a:r>
                        <a:rPr lang="en-US" altLang="ko-KR" sz="1100"/>
                        <a:t>. </a:t>
                      </a:r>
                      <a:r>
                        <a:rPr lang="ko-KR" altLang="en-US" sz="1100"/>
                        <a:t>사용자에게 목록을 보여줄 수 있음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386448"/>
                  </a:ext>
                </a:extLst>
              </a:tr>
              <a:tr h="580252">
                <a:tc>
                  <a:txBody>
                    <a:bodyPr/>
                    <a:lstStyle/>
                    <a:p>
                      <a:r>
                        <a:rPr lang="en-US" altLang="ko-KR" sz="1100" b="0" dirty="0"/>
                        <a:t>301</a:t>
                      </a:r>
                      <a:endParaRPr lang="ko-KR" altLang="en-US" sz="1100" b="0" dirty="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Moved Permanently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리소스가 </a:t>
                      </a:r>
                      <a:r>
                        <a:rPr lang="ko-KR" altLang="en-US" sz="1100" b="1"/>
                        <a:t>영구 이동</a:t>
                      </a:r>
                      <a:r>
                        <a:rPr lang="en-US" altLang="ko-KR" sz="1100"/>
                        <a:t>. </a:t>
                      </a:r>
                      <a:r>
                        <a:rPr lang="ko-KR" altLang="en-US" sz="1100"/>
                        <a:t>이후 요청은 새 </a:t>
                      </a:r>
                      <a:r>
                        <a:rPr lang="en-US" altLang="ko-KR" sz="1100"/>
                        <a:t>URL</a:t>
                      </a:r>
                      <a:r>
                        <a:rPr lang="ko-KR" altLang="en-US" sz="1100"/>
                        <a:t>로 해야 함 </a:t>
                      </a:r>
                      <a:r>
                        <a:rPr lang="en-US" altLang="ko-KR" sz="1100"/>
                        <a:t>(Location </a:t>
                      </a:r>
                      <a:r>
                        <a:rPr lang="ko-KR" altLang="en-US" sz="1100"/>
                        <a:t>포함</a:t>
                      </a:r>
                      <a:r>
                        <a:rPr lang="en-US" altLang="ko-KR" sz="1100"/>
                        <a:t>)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558619"/>
                  </a:ext>
                </a:extLst>
              </a:tr>
              <a:tr h="406176">
                <a:tc>
                  <a:txBody>
                    <a:bodyPr/>
                    <a:lstStyle/>
                    <a:p>
                      <a:r>
                        <a:rPr lang="en-US" altLang="ko-KR" sz="1100" b="0" dirty="0"/>
                        <a:t>302</a:t>
                      </a:r>
                      <a:endParaRPr lang="ko-KR" altLang="en-US" sz="1100" b="0" dirty="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Found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리소스가 </a:t>
                      </a:r>
                      <a:r>
                        <a:rPr lang="ko-KR" altLang="en-US" sz="1100" b="1"/>
                        <a:t>임시 이동</a:t>
                      </a:r>
                      <a:r>
                        <a:rPr lang="en-US" altLang="ko-KR" sz="1100"/>
                        <a:t>. </a:t>
                      </a:r>
                      <a:r>
                        <a:rPr lang="ko-KR" altLang="en-US" sz="1100"/>
                        <a:t>원래 </a:t>
                      </a:r>
                      <a:r>
                        <a:rPr lang="en-US" altLang="ko-KR" sz="1100"/>
                        <a:t>URL</a:t>
                      </a:r>
                      <a:r>
                        <a:rPr lang="ko-KR" altLang="en-US" sz="1100"/>
                        <a:t>로 계속 요청해야 함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125330"/>
                  </a:ext>
                </a:extLst>
              </a:tr>
              <a:tr h="580252">
                <a:tc>
                  <a:txBody>
                    <a:bodyPr/>
                    <a:lstStyle/>
                    <a:p>
                      <a:r>
                        <a:rPr lang="en-US" altLang="ko-KR" sz="1100" b="0" dirty="0"/>
                        <a:t>303</a:t>
                      </a:r>
                      <a:endParaRPr lang="ko-KR" altLang="en-US" sz="1100" b="0" dirty="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See Other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/>
                        <a:t>POST </a:t>
                      </a:r>
                      <a:r>
                        <a:rPr lang="ko-KR" altLang="en-US" sz="1100"/>
                        <a:t>요청 후 </a:t>
                      </a:r>
                      <a:r>
                        <a:rPr lang="en-US" altLang="ko-KR" sz="1100" b="1"/>
                        <a:t>GET </a:t>
                      </a:r>
                      <a:r>
                        <a:rPr lang="ko-KR" altLang="en-US" sz="1100" b="1"/>
                        <a:t>방식으로 리디렉션</a:t>
                      </a:r>
                      <a:r>
                        <a:rPr lang="en-US" altLang="ko-KR" sz="1100"/>
                        <a:t>. </a:t>
                      </a:r>
                      <a:r>
                        <a:rPr lang="ko-KR" altLang="en-US" sz="1100"/>
                        <a:t>결과 리소스 </a:t>
                      </a:r>
                      <a:r>
                        <a:rPr lang="en-US" altLang="ko-KR" sz="1100"/>
                        <a:t>URL </a:t>
                      </a:r>
                      <a:r>
                        <a:rPr lang="ko-KR" altLang="en-US" sz="1100"/>
                        <a:t>제공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456357"/>
                  </a:ext>
                </a:extLst>
              </a:tr>
              <a:tr h="754327">
                <a:tc>
                  <a:txBody>
                    <a:bodyPr/>
                    <a:lstStyle/>
                    <a:p>
                      <a:r>
                        <a:rPr lang="en-US" altLang="ko-KR" sz="1100" b="0" dirty="0"/>
                        <a:t>304</a:t>
                      </a:r>
                      <a:endParaRPr lang="ko-KR" altLang="en-US" sz="1100" b="0" dirty="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Not Modified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캐시된 리소스가 최신 상태</a:t>
                      </a:r>
                      <a:r>
                        <a:rPr lang="en-US" altLang="ko-KR" sz="1100"/>
                        <a:t>. </a:t>
                      </a:r>
                      <a:r>
                        <a:rPr lang="ko-KR" altLang="en-US" sz="1100" b="1"/>
                        <a:t>본문 없음</a:t>
                      </a:r>
                      <a:r>
                        <a:rPr lang="en-US" altLang="ko-KR" sz="1100"/>
                        <a:t>, </a:t>
                      </a:r>
                      <a:r>
                        <a:rPr lang="ko-KR" altLang="en-US" sz="1100"/>
                        <a:t>브라우저가 로컬 복사 사용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829574"/>
                  </a:ext>
                </a:extLst>
              </a:tr>
              <a:tr h="580252"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305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Use Proxy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리소스를 특정 프락시 서버 통해 접근해야 함</a:t>
                      </a:r>
                      <a:r>
                        <a:rPr lang="en-US" altLang="ko-KR" sz="1100"/>
                        <a:t>. </a:t>
                      </a:r>
                      <a:r>
                        <a:rPr lang="ko-KR" altLang="en-US" sz="1100"/>
                        <a:t>거의 사용되지 않음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55190"/>
                  </a:ext>
                </a:extLst>
              </a:tr>
              <a:tr h="406176"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306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사용되지 않음</a:t>
                      </a:r>
                      <a:r>
                        <a:rPr lang="en-US" altLang="ko-KR" sz="1100"/>
                        <a:t>)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더 이상 사용되지 않는 코드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881045"/>
                  </a:ext>
                </a:extLst>
              </a:tr>
              <a:tr h="406176">
                <a:tc>
                  <a:txBody>
                    <a:bodyPr/>
                    <a:lstStyle/>
                    <a:p>
                      <a:r>
                        <a:rPr lang="en-US" altLang="ko-KR" sz="1100" b="0" dirty="0"/>
                        <a:t>307</a:t>
                      </a:r>
                      <a:endParaRPr lang="ko-KR" altLang="en-US" sz="1100" b="0" dirty="0"/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Temporary Redirect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100" b="1" dirty="0"/>
                        <a:t>임시 이동</a:t>
                      </a:r>
                      <a:r>
                        <a:rPr lang="en-US" altLang="ko-KR" sz="1100" dirty="0"/>
                        <a:t>. POST </a:t>
                      </a:r>
                      <a:r>
                        <a:rPr lang="ko-KR" altLang="en-US" sz="1100" dirty="0"/>
                        <a:t>방식 유지 필요할 때 사용</a:t>
                      </a:r>
                    </a:p>
                  </a:txBody>
                  <a:tcPr marL="58025" marR="58025" marT="29013" marB="290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689549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4E8BA67-DC42-2E8B-50C7-FEEBD99B3F84}"/>
              </a:ext>
            </a:extLst>
          </p:cNvPr>
          <p:cNvSpPr txBox="1"/>
          <p:nvPr/>
        </p:nvSpPr>
        <p:spPr>
          <a:xfrm>
            <a:off x="457199" y="1285592"/>
            <a:ext cx="3933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리소스를 </a:t>
            </a:r>
            <a:r>
              <a:rPr lang="ko-KR" altLang="en-US" dirty="0" err="1"/>
              <a:t>다른곳에</a:t>
            </a:r>
            <a:r>
              <a:rPr lang="ko-KR" altLang="en-US" dirty="0"/>
              <a:t> 요청하라는 응답</a:t>
            </a:r>
          </a:p>
        </p:txBody>
      </p:sp>
    </p:spTree>
    <p:extLst>
      <p:ext uri="{BB962C8B-B14F-4D97-AF65-F5344CB8AC3E}">
        <p14:creationId xmlns:p14="http://schemas.microsoft.com/office/powerpoint/2010/main" val="3709578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F137F-9BBD-FA14-BFCA-52EFD1DFA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0EFF0-FE7B-2AD0-2A7F-2802751C7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클라이언트 에러 상태 코드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A4E3FE4-1659-682E-5F87-4590F0C336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962552"/>
              </p:ext>
            </p:extLst>
          </p:nvPr>
        </p:nvGraphicFramePr>
        <p:xfrm>
          <a:off x="457200" y="2030616"/>
          <a:ext cx="5903430" cy="4552746"/>
        </p:xfrm>
        <a:graphic>
          <a:graphicData uri="http://schemas.openxmlformats.org/drawingml/2006/table">
            <a:tbl>
              <a:tblPr/>
              <a:tblGrid>
                <a:gridCol w="1967810">
                  <a:extLst>
                    <a:ext uri="{9D8B030D-6E8A-4147-A177-3AD203B41FA5}">
                      <a16:colId xmlns:a16="http://schemas.microsoft.com/office/drawing/2014/main" val="4236058009"/>
                    </a:ext>
                  </a:extLst>
                </a:gridCol>
                <a:gridCol w="1967810">
                  <a:extLst>
                    <a:ext uri="{9D8B030D-6E8A-4147-A177-3AD203B41FA5}">
                      <a16:colId xmlns:a16="http://schemas.microsoft.com/office/drawing/2014/main" val="2108864560"/>
                    </a:ext>
                  </a:extLst>
                </a:gridCol>
                <a:gridCol w="1967810">
                  <a:extLst>
                    <a:ext uri="{9D8B030D-6E8A-4147-A177-3AD203B41FA5}">
                      <a16:colId xmlns:a16="http://schemas.microsoft.com/office/drawing/2014/main" val="4228336551"/>
                    </a:ext>
                  </a:extLst>
                </a:gridCol>
              </a:tblGrid>
              <a:tr h="262375">
                <a:tc>
                  <a:txBody>
                    <a:bodyPr/>
                    <a:lstStyle/>
                    <a:p>
                      <a:r>
                        <a:rPr lang="ko-KR" altLang="en-US" sz="1300" b="1"/>
                        <a:t>상태 코드</a:t>
                      </a:r>
                      <a:endParaRPr lang="ko-KR" altLang="en-US" sz="130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b="1"/>
                        <a:t>사유 구절</a:t>
                      </a:r>
                      <a:endParaRPr lang="ko-KR" altLang="en-US" sz="130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b="1"/>
                        <a:t>설명</a:t>
                      </a:r>
                      <a:endParaRPr lang="ko-KR" altLang="en-US" sz="130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87757"/>
                  </a:ext>
                </a:extLst>
              </a:tr>
              <a:tr h="459156">
                <a:tc>
                  <a:txBody>
                    <a:bodyPr/>
                    <a:lstStyle/>
                    <a:p>
                      <a:r>
                        <a:rPr lang="en-US" altLang="ko-KR" sz="1300" b="1" dirty="0"/>
                        <a:t>400</a:t>
                      </a:r>
                      <a:endParaRPr lang="ko-KR" altLang="en-US" sz="1300" b="1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Bad Request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요청 자체가 잘못됨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문법 오류 등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69553"/>
                  </a:ext>
                </a:extLst>
              </a:tr>
              <a:tr h="459156">
                <a:tc>
                  <a:txBody>
                    <a:bodyPr/>
                    <a:lstStyle/>
                    <a:p>
                      <a:r>
                        <a:rPr lang="en-US" altLang="ko-KR" sz="1300" b="0" dirty="0"/>
                        <a:t>401</a:t>
                      </a:r>
                      <a:endParaRPr lang="ko-KR" altLang="en-US" sz="1300" b="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Unauthorized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인증 필요</a:t>
                      </a:r>
                      <a:r>
                        <a:rPr lang="en-US" altLang="ko-KR" sz="1300"/>
                        <a:t>. </a:t>
                      </a:r>
                      <a:r>
                        <a:rPr lang="ko-KR" altLang="en-US" sz="1300"/>
                        <a:t>클라이언트가 로그인하지 않음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566439"/>
                  </a:ext>
                </a:extLst>
              </a:tr>
              <a:tr h="459156">
                <a:tc>
                  <a:txBody>
                    <a:bodyPr/>
                    <a:lstStyle/>
                    <a:p>
                      <a:r>
                        <a:rPr lang="en-US" altLang="ko-KR" sz="1300" dirty="0"/>
                        <a:t>402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Payment Required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아직 사용되지 않음 </a:t>
                      </a:r>
                      <a:r>
                        <a:rPr lang="en-US" altLang="ko-KR" sz="1300"/>
                        <a:t>(</a:t>
                      </a:r>
                      <a:r>
                        <a:rPr lang="ko-KR" altLang="en-US" sz="1300"/>
                        <a:t>향후 결제 관련 용도 예상</a:t>
                      </a:r>
                      <a:r>
                        <a:rPr lang="en-US" altLang="ko-KR" sz="1300"/>
                        <a:t>)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211200"/>
                  </a:ext>
                </a:extLst>
              </a:tr>
              <a:tr h="459156">
                <a:tc>
                  <a:txBody>
                    <a:bodyPr/>
                    <a:lstStyle/>
                    <a:p>
                      <a:r>
                        <a:rPr lang="en-US" altLang="ko-KR" sz="1300" b="0" dirty="0"/>
                        <a:t>403</a:t>
                      </a:r>
                      <a:endParaRPr lang="ko-KR" altLang="en-US" sz="1300" b="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Forbidden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서버가 요청을 </a:t>
                      </a:r>
                      <a:r>
                        <a:rPr lang="ko-KR" altLang="en-US" sz="1300" b="1"/>
                        <a:t>거부</a:t>
                      </a:r>
                      <a:r>
                        <a:rPr lang="en-US" altLang="ko-KR" sz="1300"/>
                        <a:t>. </a:t>
                      </a:r>
                      <a:r>
                        <a:rPr lang="ko-KR" altLang="en-US" sz="1300"/>
                        <a:t>이유는 선택적으로 제공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118135"/>
                  </a:ext>
                </a:extLst>
              </a:tr>
              <a:tr h="459156">
                <a:tc>
                  <a:txBody>
                    <a:bodyPr/>
                    <a:lstStyle/>
                    <a:p>
                      <a:r>
                        <a:rPr lang="en-US" altLang="ko-KR" sz="1300" b="1"/>
                        <a:t>404</a:t>
                      </a:r>
                      <a:endParaRPr lang="ko-KR" altLang="en-US" sz="130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Not Found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/>
                        <a:t>요청한 리소스를 찾을 수 없음</a:t>
                      </a:r>
                      <a:endParaRPr lang="en-US" altLang="ko-KR" sz="1300" dirty="0"/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470132"/>
                  </a:ext>
                </a:extLst>
              </a:tr>
              <a:tr h="655937">
                <a:tc>
                  <a:txBody>
                    <a:bodyPr/>
                    <a:lstStyle/>
                    <a:p>
                      <a:r>
                        <a:rPr lang="en-US" altLang="ko-KR" sz="1300"/>
                        <a:t>405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Method Not Allowed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해당 </a:t>
                      </a:r>
                      <a:r>
                        <a:rPr lang="en-US" altLang="ko-KR" sz="1300"/>
                        <a:t>URL</a:t>
                      </a:r>
                      <a:r>
                        <a:rPr lang="ko-KR" altLang="en-US" sz="1300"/>
                        <a:t>에 대해 </a:t>
                      </a:r>
                      <a:r>
                        <a:rPr lang="ko-KR" altLang="en-US" sz="1300" b="1"/>
                        <a:t>허용되지 않은 메서드</a:t>
                      </a:r>
                      <a:r>
                        <a:rPr lang="ko-KR" altLang="en-US" sz="1300"/>
                        <a:t> 사용함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7945040"/>
                  </a:ext>
                </a:extLst>
              </a:tr>
              <a:tr h="655937">
                <a:tc>
                  <a:txBody>
                    <a:bodyPr/>
                    <a:lstStyle/>
                    <a:p>
                      <a:r>
                        <a:rPr lang="en-US" altLang="ko-KR" sz="1300"/>
                        <a:t>406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Not Acceptable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/>
                        <a:t>클라이언트가 원하는 콘텐츠 타입을 서버가 제공 불가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485886"/>
                  </a:ext>
                </a:extLst>
              </a:tr>
              <a:tr h="655937">
                <a:tc>
                  <a:txBody>
                    <a:bodyPr/>
                    <a:lstStyle/>
                    <a:p>
                      <a:r>
                        <a:rPr lang="en-US" altLang="ko-KR" sz="1300"/>
                        <a:t>407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Proxy Authentication Required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 err="1"/>
                        <a:t>프락시</a:t>
                      </a:r>
                      <a:r>
                        <a:rPr lang="ko-KR" altLang="en-US" sz="1300" dirty="0"/>
                        <a:t> 서버 인증 필요 </a:t>
                      </a:r>
                      <a:r>
                        <a:rPr lang="en-US" altLang="ko-KR" sz="1300" dirty="0"/>
                        <a:t>(401</a:t>
                      </a:r>
                      <a:r>
                        <a:rPr lang="ko-KR" altLang="en-US" sz="1300" dirty="0"/>
                        <a:t>과 유사하지만 대상이 </a:t>
                      </a:r>
                      <a:r>
                        <a:rPr lang="ko-KR" altLang="en-US" sz="1300" dirty="0" err="1"/>
                        <a:t>프락시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65594" marR="65594" marT="32797" marB="3279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52496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7615715-D6F8-5B3C-2E69-C099F79BBAD0}"/>
              </a:ext>
            </a:extLst>
          </p:cNvPr>
          <p:cNvSpPr txBox="1"/>
          <p:nvPr/>
        </p:nvSpPr>
        <p:spPr>
          <a:xfrm>
            <a:off x="457200" y="1566622"/>
            <a:ext cx="5811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클라이언트 측의 잘못으로 인해 요청이 실패했음을 의미</a:t>
            </a:r>
          </a:p>
        </p:txBody>
      </p:sp>
    </p:spTree>
    <p:extLst>
      <p:ext uri="{BB962C8B-B14F-4D97-AF65-F5344CB8AC3E}">
        <p14:creationId xmlns:p14="http://schemas.microsoft.com/office/powerpoint/2010/main" val="2175834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44E69-146E-4165-608F-F2D15AA6F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AA715-37A3-F26E-AF26-DD0496B97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서버 에러 상태 코드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CFD30F5-9CE2-27AC-6F4F-B3DEAFB68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851878"/>
              </p:ext>
            </p:extLst>
          </p:nvPr>
        </p:nvGraphicFramePr>
        <p:xfrm>
          <a:off x="457200" y="2057398"/>
          <a:ext cx="7406121" cy="4525964"/>
        </p:xfrm>
        <a:graphic>
          <a:graphicData uri="http://schemas.openxmlformats.org/drawingml/2006/table">
            <a:tbl>
              <a:tblPr/>
              <a:tblGrid>
                <a:gridCol w="2468707">
                  <a:extLst>
                    <a:ext uri="{9D8B030D-6E8A-4147-A177-3AD203B41FA5}">
                      <a16:colId xmlns:a16="http://schemas.microsoft.com/office/drawing/2014/main" val="3290219665"/>
                    </a:ext>
                  </a:extLst>
                </a:gridCol>
                <a:gridCol w="2468707">
                  <a:extLst>
                    <a:ext uri="{9D8B030D-6E8A-4147-A177-3AD203B41FA5}">
                      <a16:colId xmlns:a16="http://schemas.microsoft.com/office/drawing/2014/main" val="3300561847"/>
                    </a:ext>
                  </a:extLst>
                </a:gridCol>
                <a:gridCol w="2468707">
                  <a:extLst>
                    <a:ext uri="{9D8B030D-6E8A-4147-A177-3AD203B41FA5}">
                      <a16:colId xmlns:a16="http://schemas.microsoft.com/office/drawing/2014/main" val="3283795254"/>
                    </a:ext>
                  </a:extLst>
                </a:gridCol>
              </a:tblGrid>
              <a:tr h="329161">
                <a:tc>
                  <a:txBody>
                    <a:bodyPr/>
                    <a:lstStyle/>
                    <a:p>
                      <a:r>
                        <a:rPr lang="ko-KR" altLang="en-US" sz="1600" b="1"/>
                        <a:t>상태 코드</a:t>
                      </a:r>
                      <a:endParaRPr lang="ko-KR" altLang="en-US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1"/>
                        <a:t>사유 구절</a:t>
                      </a:r>
                      <a:endParaRPr lang="ko-KR" altLang="en-US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1"/>
                        <a:t>설명</a:t>
                      </a:r>
                      <a:endParaRPr lang="ko-KR" altLang="en-US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484399"/>
                  </a:ext>
                </a:extLst>
              </a:tr>
              <a:tr h="576032">
                <a:tc>
                  <a:txBody>
                    <a:bodyPr/>
                    <a:lstStyle/>
                    <a:p>
                      <a:r>
                        <a:rPr lang="en-US" altLang="ko-KR" sz="1600" b="1"/>
                        <a:t>500</a:t>
                      </a:r>
                      <a:endParaRPr lang="ko-KR" altLang="en-US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Internal Server Error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서버 내부 오류</a:t>
                      </a:r>
                      <a:r>
                        <a:rPr lang="en-US" altLang="ko-KR" sz="1600"/>
                        <a:t>. </a:t>
                      </a:r>
                      <a:r>
                        <a:rPr lang="ko-KR" altLang="en-US" sz="1600"/>
                        <a:t>요청 처리 중 예상치 못한 에러 발생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221235"/>
                  </a:ext>
                </a:extLst>
              </a:tr>
              <a:tr h="576032">
                <a:tc>
                  <a:txBody>
                    <a:bodyPr/>
                    <a:lstStyle/>
                    <a:p>
                      <a:r>
                        <a:rPr lang="en-US" altLang="ko-KR" sz="1600"/>
                        <a:t>501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Not Implemented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서버가 해당 메서드 또는 기능을 </a:t>
                      </a:r>
                      <a:r>
                        <a:rPr lang="ko-KR" altLang="en-US" sz="1600" b="1"/>
                        <a:t>지원하지 않음</a:t>
                      </a:r>
                      <a:endParaRPr lang="ko-KR" altLang="en-US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132446"/>
                  </a:ext>
                </a:extLst>
              </a:tr>
              <a:tr h="576032">
                <a:tc>
                  <a:txBody>
                    <a:bodyPr/>
                    <a:lstStyle/>
                    <a:p>
                      <a:r>
                        <a:rPr lang="en-US" altLang="ko-KR" sz="1600"/>
                        <a:t>502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Bad Gateway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프락시</a:t>
                      </a:r>
                      <a:r>
                        <a:rPr lang="en-US" altLang="ko-KR" sz="1600"/>
                        <a:t>/</a:t>
                      </a:r>
                      <a:r>
                        <a:rPr lang="ko-KR" altLang="en-US" sz="1600"/>
                        <a:t>게이트웨이가 받은 응답이 </a:t>
                      </a:r>
                      <a:r>
                        <a:rPr lang="ko-KR" altLang="en-US" sz="1600" b="1"/>
                        <a:t>잘못됨</a:t>
                      </a:r>
                      <a:endParaRPr lang="ko-KR" altLang="en-US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321751"/>
                  </a:ext>
                </a:extLst>
              </a:tr>
              <a:tr h="1069773">
                <a:tc>
                  <a:txBody>
                    <a:bodyPr/>
                    <a:lstStyle/>
                    <a:p>
                      <a:r>
                        <a:rPr lang="en-US" altLang="ko-KR" sz="1600" b="1"/>
                        <a:t>503</a:t>
                      </a:r>
                      <a:endParaRPr lang="ko-KR" altLang="en-US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Service Unavailable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서버가 </a:t>
                      </a:r>
                      <a:r>
                        <a:rPr lang="ko-KR" altLang="en-US" sz="1600" b="1"/>
                        <a:t>일시적으로 과부하 혹은 점검 중</a:t>
                      </a:r>
                      <a:r>
                        <a:rPr lang="en-US" altLang="ko-KR" sz="1600"/>
                        <a:t>. Retry-After </a:t>
                      </a:r>
                      <a:r>
                        <a:rPr lang="ko-KR" altLang="en-US" sz="1600"/>
                        <a:t>헤더와 함께 사용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226539"/>
                  </a:ext>
                </a:extLst>
              </a:tr>
              <a:tr h="822902">
                <a:tc>
                  <a:txBody>
                    <a:bodyPr/>
                    <a:lstStyle/>
                    <a:p>
                      <a:r>
                        <a:rPr lang="en-US" altLang="ko-KR" sz="1600"/>
                        <a:t>504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Gateway Timeout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/>
                        <a:t>게이트웨이</a:t>
                      </a:r>
                      <a:r>
                        <a:rPr lang="en-US" altLang="ko-KR" sz="1600"/>
                        <a:t>/</a:t>
                      </a:r>
                      <a:r>
                        <a:rPr lang="ko-KR" altLang="en-US" sz="1600"/>
                        <a:t>프락시가 응답을 기다리다 </a:t>
                      </a:r>
                      <a:r>
                        <a:rPr lang="ko-KR" altLang="en-US" sz="1600" b="1"/>
                        <a:t>시간 초과됨</a:t>
                      </a:r>
                      <a:endParaRPr lang="ko-KR" altLang="en-US" sz="160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605877"/>
                  </a:ext>
                </a:extLst>
              </a:tr>
              <a:tr h="576032">
                <a:tc>
                  <a:txBody>
                    <a:bodyPr/>
                    <a:lstStyle/>
                    <a:p>
                      <a:r>
                        <a:rPr lang="en-US" altLang="ko-KR" sz="1600"/>
                        <a:t>505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HTTP Version Not Supported</a:t>
                      </a:r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dirty="0"/>
                        <a:t>요청한 </a:t>
                      </a:r>
                      <a:r>
                        <a:rPr lang="en-US" altLang="ko-KR" sz="1600" dirty="0"/>
                        <a:t>HTTP </a:t>
                      </a:r>
                      <a:r>
                        <a:rPr lang="ko-KR" altLang="en-US" sz="1600" dirty="0"/>
                        <a:t>버전을 </a:t>
                      </a:r>
                      <a:r>
                        <a:rPr lang="ko-KR" altLang="en-US" sz="1600" b="1" dirty="0"/>
                        <a:t>서버가 지원하지 않음</a:t>
                      </a:r>
                      <a:endParaRPr lang="ko-KR" altLang="en-US" sz="1600" dirty="0"/>
                    </a:p>
                  </a:txBody>
                  <a:tcPr marL="82290" marR="82290" marT="41145" marB="411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8205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3B34F97-FD36-A638-5575-1D71F2C93F77}"/>
              </a:ext>
            </a:extLst>
          </p:cNvPr>
          <p:cNvSpPr txBox="1"/>
          <p:nvPr/>
        </p:nvSpPr>
        <p:spPr>
          <a:xfrm>
            <a:off x="615636" y="1417638"/>
            <a:ext cx="6980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요청 자체는 정상인데</a:t>
            </a:r>
            <a:r>
              <a:rPr lang="en-US" altLang="ko-KR" dirty="0"/>
              <a:t>, </a:t>
            </a:r>
            <a:r>
              <a:rPr lang="ko-KR" altLang="en-US" dirty="0"/>
              <a:t>서버 내부 문제로 실패했음을 의미</a:t>
            </a:r>
          </a:p>
        </p:txBody>
      </p:sp>
    </p:spTree>
    <p:extLst>
      <p:ext uri="{BB962C8B-B14F-4D97-AF65-F5344CB8AC3E}">
        <p14:creationId xmlns:p14="http://schemas.microsoft.com/office/powerpoint/2010/main" val="3761395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B5C38E-AC66-3EFD-30CC-B7152E4BF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사유구절</a:t>
            </a:r>
            <a:r>
              <a:rPr lang="en-US" altLang="ko-KR" dirty="0"/>
              <a:t>, </a:t>
            </a:r>
            <a:r>
              <a:rPr lang="ko-KR" altLang="en-US" dirty="0"/>
              <a:t>버전정보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F574B4-75EA-AC4E-CAE9-A0CD97728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사유구절 </a:t>
            </a:r>
            <a:r>
              <a:rPr lang="en-US" altLang="ko-KR" dirty="0"/>
              <a:t>: </a:t>
            </a:r>
            <a:r>
              <a:rPr lang="ko-KR" altLang="en-US" dirty="0"/>
              <a:t>상태 코드에 대한 글로 된 설명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HTTP </a:t>
            </a:r>
            <a:r>
              <a:rPr lang="ko-KR" altLang="en-US" dirty="0"/>
              <a:t>명세는 사유 구절이 어때야 한다는 어떤 엄격한 규칙도 제공하지 않음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버전 번호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HTTP/ </a:t>
            </a:r>
            <a:r>
              <a:rPr lang="en-US" altLang="ko-KR" dirty="0" err="1"/>
              <a:t>x.y</a:t>
            </a:r>
            <a:r>
              <a:rPr lang="en-US" altLang="ko-KR" dirty="0"/>
              <a:t> </a:t>
            </a:r>
            <a:r>
              <a:rPr lang="ko-KR" altLang="en-US" dirty="0"/>
              <a:t>형식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HTTP1.1 </a:t>
            </a:r>
            <a:r>
              <a:rPr lang="ko-KR" altLang="en-US" dirty="0"/>
              <a:t>과 대화하는 </a:t>
            </a:r>
            <a:r>
              <a:rPr lang="en-US" altLang="ko-KR" dirty="0"/>
              <a:t>HTTP1.2 </a:t>
            </a:r>
            <a:r>
              <a:rPr lang="ko-KR" altLang="en-US" dirty="0"/>
              <a:t>는 </a:t>
            </a:r>
            <a:r>
              <a:rPr lang="en-US" altLang="ko-KR" dirty="0"/>
              <a:t>1.2 </a:t>
            </a:r>
            <a:r>
              <a:rPr lang="ko-KR" altLang="en-US" dirty="0"/>
              <a:t>버전의 로운 가능을 사용할 수 없다 는 것을 </a:t>
            </a:r>
            <a:r>
              <a:rPr lang="ko-KR" altLang="en-US" dirty="0" err="1"/>
              <a:t>알아야하기</a:t>
            </a:r>
            <a:r>
              <a:rPr lang="ko-KR" altLang="en-US" dirty="0"/>
              <a:t> 때문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2103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CD409-CD46-CCCF-272F-CF54DB57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헤더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745E6A-1A1F-1658-FB56-C10BD1349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ko-KR" sz="1800" b="1" dirty="0"/>
              <a:t>HTTP </a:t>
            </a:r>
            <a:r>
              <a:rPr lang="ko-KR" altLang="en-US" sz="1800" b="1" dirty="0" err="1"/>
              <a:t>헤더란</a:t>
            </a:r>
            <a:r>
              <a:rPr lang="en-US" altLang="ko-KR" sz="1800" b="1" dirty="0"/>
              <a:t>?</a:t>
            </a:r>
            <a:endParaRPr lang="ko-KR" alt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/>
              <a:t>요청과 응답 메시지에 포함되는 </a:t>
            </a:r>
            <a:r>
              <a:rPr lang="ko-KR" altLang="en-US" sz="1800" b="1" dirty="0"/>
              <a:t>이름</a:t>
            </a:r>
            <a:r>
              <a:rPr lang="en-US" altLang="ko-KR" sz="1800" b="1" dirty="0"/>
              <a:t>:</a:t>
            </a:r>
            <a:r>
              <a:rPr lang="ko-KR" altLang="en-US" sz="1800" b="1" dirty="0"/>
              <a:t>값</a:t>
            </a:r>
            <a:r>
              <a:rPr lang="ko-KR" altLang="en-US" sz="1800" dirty="0"/>
              <a:t> 형식의 메타데이터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/>
              <a:t>메시지의 의미</a:t>
            </a:r>
            <a:r>
              <a:rPr lang="en-US" altLang="ko-KR" sz="1800" dirty="0"/>
              <a:t>, </a:t>
            </a:r>
            <a:r>
              <a:rPr lang="ko-KR" altLang="en-US" sz="1800" dirty="0"/>
              <a:t>처리 방식</a:t>
            </a:r>
            <a:r>
              <a:rPr lang="en-US" altLang="ko-KR" sz="1800" dirty="0"/>
              <a:t>, </a:t>
            </a:r>
            <a:r>
              <a:rPr lang="ko-KR" altLang="en-US" sz="1800" dirty="0"/>
              <a:t>콘텐츠 정보 등을 알려줌</a:t>
            </a:r>
          </a:p>
          <a:p>
            <a:pPr>
              <a:buNone/>
            </a:pPr>
            <a:r>
              <a:rPr lang="ko-KR" altLang="en-US" sz="1800" b="1" dirty="0"/>
              <a:t>헤더 </a:t>
            </a:r>
            <a:r>
              <a:rPr lang="en-US" altLang="ko-KR" sz="1800" b="1" dirty="0"/>
              <a:t>5</a:t>
            </a:r>
            <a:r>
              <a:rPr lang="ko-KR" altLang="en-US" sz="1800" b="1" dirty="0"/>
              <a:t>가지 분류</a:t>
            </a:r>
            <a:endParaRPr lang="ko-KR" altLang="en-US" sz="1800" dirty="0"/>
          </a:p>
          <a:p>
            <a:pPr>
              <a:buFont typeface="+mj-lt"/>
              <a:buAutoNum type="arabicPeriod"/>
            </a:pPr>
            <a:r>
              <a:rPr lang="ko-KR" altLang="en-US" sz="1800" b="1" dirty="0"/>
              <a:t>일반 헤더</a:t>
            </a:r>
            <a:r>
              <a:rPr lang="en-US" altLang="ko-KR" sz="1800" dirty="0"/>
              <a:t>: </a:t>
            </a:r>
            <a:r>
              <a:rPr lang="ko-KR" altLang="en-US" sz="1800" dirty="0"/>
              <a:t>요청</a:t>
            </a:r>
            <a:r>
              <a:rPr lang="en-US" altLang="ko-KR" sz="1800" dirty="0"/>
              <a:t>/</a:t>
            </a:r>
            <a:r>
              <a:rPr lang="ko-KR" altLang="en-US" sz="1800" dirty="0"/>
              <a:t>응답 공통</a:t>
            </a:r>
          </a:p>
          <a:p>
            <a:pPr>
              <a:buFont typeface="+mj-lt"/>
              <a:buAutoNum type="arabicPeriod"/>
            </a:pPr>
            <a:r>
              <a:rPr lang="ko-KR" altLang="en-US" sz="1800" b="1" dirty="0"/>
              <a:t>요청 헤더</a:t>
            </a:r>
            <a:r>
              <a:rPr lang="en-US" altLang="ko-KR" sz="1800" dirty="0"/>
              <a:t>: </a:t>
            </a:r>
            <a:r>
              <a:rPr lang="ko-KR" altLang="en-US" sz="1800" dirty="0"/>
              <a:t>클라이언트 요청 관련 정보</a:t>
            </a:r>
          </a:p>
          <a:p>
            <a:pPr>
              <a:buFont typeface="+mj-lt"/>
              <a:buAutoNum type="arabicPeriod"/>
            </a:pPr>
            <a:r>
              <a:rPr lang="ko-KR" altLang="en-US" sz="1800" b="1" dirty="0"/>
              <a:t>응답 헤더</a:t>
            </a:r>
            <a:r>
              <a:rPr lang="en-US" altLang="ko-KR" sz="1800" dirty="0"/>
              <a:t>: </a:t>
            </a:r>
            <a:r>
              <a:rPr lang="ko-KR" altLang="en-US" sz="1800" dirty="0"/>
              <a:t>서버 응답 관련 정보</a:t>
            </a:r>
          </a:p>
          <a:p>
            <a:pPr>
              <a:buFont typeface="+mj-lt"/>
              <a:buAutoNum type="arabicPeriod"/>
            </a:pPr>
            <a:r>
              <a:rPr lang="ko-KR" altLang="en-US" sz="1800" b="1" dirty="0" err="1"/>
              <a:t>엔터티</a:t>
            </a:r>
            <a:r>
              <a:rPr lang="ko-KR" altLang="en-US" sz="1800" b="1" dirty="0"/>
              <a:t> 헤더</a:t>
            </a:r>
            <a:r>
              <a:rPr lang="en-US" altLang="ko-KR" sz="1800" dirty="0"/>
              <a:t>: </a:t>
            </a:r>
            <a:r>
              <a:rPr lang="ko-KR" altLang="en-US" sz="1800" dirty="0"/>
              <a:t>본문 데이터에 대한 정보</a:t>
            </a:r>
          </a:p>
          <a:p>
            <a:pPr>
              <a:buFont typeface="+mj-lt"/>
              <a:buAutoNum type="arabicPeriod"/>
            </a:pPr>
            <a:r>
              <a:rPr lang="ko-KR" altLang="en-US" sz="1800" b="1" dirty="0"/>
              <a:t>확장 헤더</a:t>
            </a:r>
            <a:r>
              <a:rPr lang="en-US" altLang="ko-KR" sz="1800" dirty="0"/>
              <a:t>: </a:t>
            </a:r>
            <a:r>
              <a:rPr lang="ko-KR" altLang="en-US" sz="1800" dirty="0"/>
              <a:t>비표준 사용자 정의 헤더</a:t>
            </a:r>
          </a:p>
          <a:p>
            <a:pPr marL="0" indent="0">
              <a:buNone/>
            </a:pP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9261CF-1FFF-09D3-34B1-EB8E974DF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47" y="4744461"/>
            <a:ext cx="6773220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215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D393E6-F3FA-2B43-FD16-E67FB8C0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 헤더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733C53-1B24-B424-7CCE-9D1FA5AC4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0020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dirty="0"/>
              <a:t>요청과 응답 모두에 사용되는 공통 헤더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B1C5A39A-E471-3375-B35E-13AAEEE0B25D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583021"/>
          <a:ext cx="8229600" cy="25603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68450235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0640128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410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메시지가 생성된 일시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572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Connection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연결 관련 옵션 지정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keep-alive)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6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Transfer-Encoding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인코딩 방식 지정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chunked)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8747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Via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메시지가 거쳐온 중개 서버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938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Upgrade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새로운 버전 또는 프로토콜 제안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233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MIME-Version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MIME </a:t>
                      </a:r>
                      <a:r>
                        <a:rPr lang="ko-KR" altLang="en-US" dirty="0"/>
                        <a:t>버전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797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784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4CFA-80A1-41C2-73CD-26932817C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9A36F1-1FB7-AA55-6FB7-CC95AA936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요청 헤더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A5538F-230F-D428-AAF8-D212E05862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0020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dirty="0"/>
              <a:t>클라이언트가 서버에 제공하는 정보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1C3ECAA-AE36-289C-F884-A8D3257C6FC7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400141"/>
          <a:ext cx="8229600" cy="29260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23171128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4445631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536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요청 대상 서버의 호스트 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1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User-Agent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클라이언트 프로그램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734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Referer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현재 요청이 발생한 페이지 </a:t>
                      </a:r>
                      <a:r>
                        <a:rPr lang="en-US" altLang="ko-KR"/>
                        <a:t>URL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674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Accept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수락 가능한 미디어 타입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362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Accept-Language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선호하는 언어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7618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Authorization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인증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590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Cookie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클라이언트의 상태 정보 저장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598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509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8EC37-F482-953E-3C51-B0BF26A35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90C493-ECC4-57E0-2A59-FE30B43F4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응답 헤더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9A2DCC-9F75-DE17-4BC7-1E6F954DB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0020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dirty="0"/>
              <a:t>서버가 클라이언트에 제공하는 정보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5CC0850-9D82-E3AC-057F-74F412D289FA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765901"/>
          <a:ext cx="8229600" cy="219456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50513183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4204498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071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서버 애플리케이션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913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Retry-After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재요청 가능 시점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974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Set-Cookie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클라이언트에 쿠키 전달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5584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WWW-Authenticate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인증 요구 정보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8001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Warning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응답에 대한 추가 경고 메시지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061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9075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4F402-EDF6-03A3-1B8B-AEF1D6621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3CDF2-99DA-67E3-7F52-EAF9F355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엔터티</a:t>
            </a:r>
            <a:r>
              <a:rPr lang="ko-KR" altLang="en-US" dirty="0"/>
              <a:t> 헤더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748407-67DC-5520-9014-D1755312D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0020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dirty="0"/>
              <a:t>본문</a:t>
            </a:r>
            <a:r>
              <a:rPr lang="en-US" altLang="ko-KR" dirty="0"/>
              <a:t>(</a:t>
            </a:r>
            <a:r>
              <a:rPr lang="ko-KR" altLang="en-US" dirty="0" err="1"/>
              <a:t>엔터티</a:t>
            </a:r>
            <a:r>
              <a:rPr lang="en-US" altLang="ko-KR" dirty="0"/>
              <a:t>)</a:t>
            </a:r>
            <a:r>
              <a:rPr lang="ko-KR" altLang="en-US" dirty="0"/>
              <a:t>에 대한 정보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FA71591-5C70-36DA-F29A-DB61826544E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400141"/>
          <a:ext cx="8229600" cy="29260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148580518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9565075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483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Content-Type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콘텐츠의 </a:t>
                      </a:r>
                      <a:r>
                        <a:rPr lang="en-US" altLang="ko-KR"/>
                        <a:t>MIME </a:t>
                      </a:r>
                      <a:r>
                        <a:rPr lang="ko-KR" altLang="en-US"/>
                        <a:t>타입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text/html)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456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Content-Length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본문 길이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바이트 수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220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Content-Encoding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인코딩 방식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gzip)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1900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Content-Language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콘텐츠 언어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448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Content-Location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실제 리소스 위치 </a:t>
                      </a:r>
                      <a:r>
                        <a:rPr lang="en-US" altLang="ko-KR"/>
                        <a:t>URL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140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ETag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리소스 버전 태그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425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Last-Modified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마지막 수정 날짜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3500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9764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688AB-BB70-7EDC-9271-B36DE0E4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D999E-D234-5F58-A769-B780CAA8D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확장 헤더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9718FA-4DC9-2C06-6FD7-A2B5EB389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50020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ko-KR" altLang="en-US" dirty="0"/>
              <a:t>공식 표준은 아니지만 사용되는 </a:t>
            </a:r>
            <a:r>
              <a:rPr lang="ko-KR" altLang="en-US" dirty="0" err="1"/>
              <a:t>헤더ㄴ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AFF5BBF-E522-B0A6-3387-BBEA070E56E9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2811621"/>
          <a:ext cx="8229600" cy="21031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55182485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919731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979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X-Request-ID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요청 추적을 위한 </a:t>
                      </a:r>
                      <a:r>
                        <a:rPr lang="en-US" altLang="ko-KR"/>
                        <a:t>ID (</a:t>
                      </a:r>
                      <a:r>
                        <a:rPr lang="ko-KR" altLang="en-US"/>
                        <a:t>서버 내부에서 생성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1345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X-Frame-Options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클릭재킹 방지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3056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X-RateLimit-Limit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요청 제한 정보 제공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3917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X-Powered-By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서버 기술 정보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Express) </a:t>
                      </a:r>
                      <a:r>
                        <a:rPr lang="ko-KR" altLang="en-US" dirty="0"/>
                        <a:t>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024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258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A5BCF1-84B7-F3F8-DB4E-4D3248F30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엔터티</a:t>
            </a:r>
            <a:r>
              <a:rPr lang="ko-KR" altLang="en-US" dirty="0"/>
              <a:t> 본문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CC9D1F-3A6C-D13D-98A0-33208A447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 </a:t>
            </a:r>
            <a:r>
              <a:rPr lang="ko-KR" altLang="en-US" dirty="0"/>
              <a:t>메시지는 본문에 이미지， 비디오， </a:t>
            </a:r>
            <a:r>
              <a:rPr lang="en-US" altLang="ko-KR" dirty="0"/>
              <a:t>HTML </a:t>
            </a:r>
            <a:r>
              <a:rPr lang="ko-KR" altLang="en-US" dirty="0"/>
              <a:t>문서， 소프트웨어 애플리케이션 ，신용카드 트랜잭션， 메일 등 여러 종류의 데이터를 실어 </a:t>
            </a:r>
            <a:r>
              <a:rPr lang="ko-KR" altLang="en-US" dirty="0" err="1"/>
              <a:t>나를수</a:t>
            </a:r>
            <a:r>
              <a:rPr lang="ko-KR" altLang="en-US" dirty="0"/>
              <a:t>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9132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1192</Words>
  <Application>Microsoft Office PowerPoint</Application>
  <PresentationFormat>화면 슬라이드 쇼(4:3)</PresentationFormat>
  <Paragraphs>269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HTTP 메시지의 구성과 흐름</vt:lpstr>
      <vt:lpstr>HTTP 메시지란?</vt:lpstr>
      <vt:lpstr>메시지의 흐름</vt:lpstr>
      <vt:lpstr>메시지 구조</vt:lpstr>
      <vt:lpstr>메시지 구조</vt:lpstr>
      <vt:lpstr>요청 vs 응답 메시지</vt:lpstr>
      <vt:lpstr>주요 메서드</vt:lpstr>
      <vt:lpstr>메서드</vt:lpstr>
      <vt:lpstr>상태 코드 분류</vt:lpstr>
      <vt:lpstr>성공 상태 코드</vt:lpstr>
      <vt:lpstr>리다이렉션 상태 코드</vt:lpstr>
      <vt:lpstr>클라이언트 에러 상태 코드</vt:lpstr>
      <vt:lpstr>서버 에러 상태 코드</vt:lpstr>
      <vt:lpstr>사유구절, 버전정보</vt:lpstr>
      <vt:lpstr>헤더</vt:lpstr>
      <vt:lpstr>일반 헤더</vt:lpstr>
      <vt:lpstr>요청 헤더</vt:lpstr>
      <vt:lpstr>응답 헤더</vt:lpstr>
      <vt:lpstr>엔터티 헤더</vt:lpstr>
      <vt:lpstr>확장 헤더</vt:lpstr>
      <vt:lpstr>엔터티 본문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찬영 홍</cp:lastModifiedBy>
  <cp:revision>2</cp:revision>
  <dcterms:created xsi:type="dcterms:W3CDTF">2013-01-27T09:14:16Z</dcterms:created>
  <dcterms:modified xsi:type="dcterms:W3CDTF">2025-05-02T08:18:29Z</dcterms:modified>
  <cp:category/>
</cp:coreProperties>
</file>